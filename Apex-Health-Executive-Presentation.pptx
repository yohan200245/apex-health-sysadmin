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3C"/>
          </a:solidFill>
        </p:spPr>
      </p:sp>
      <p:sp>
        <p:nvSpPr>
          <p:cNvPr id="3" name="Shape 1"/>
          <p:cNvSpPr/>
          <p:nvPr/>
        </p:nvSpPr>
        <p:spPr>
          <a:xfrm>
            <a:off x="0" y="5848350"/>
            <a:ext cx="12188825" cy="1009650"/>
          </a:xfrm>
          <a:prstGeom prst="rect">
            <a:avLst/>
          </a:prstGeom>
          <a:solidFill>
            <a:srgbClr val="14425C"/>
          </a:solidFill>
        </p:spPr>
      </p:sp>
      <p:sp>
        <p:nvSpPr>
          <p:cNvPr id="4" name="Text 2"/>
          <p:cNvSpPr/>
          <p:nvPr/>
        </p:nvSpPr>
        <p:spPr>
          <a:xfrm>
            <a:off x="1340485" y="309245"/>
            <a:ext cx="96500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kern="0" spc="300" dirty="0">
                <a:solidFill>
                  <a:srgbClr val="3E96B8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APEX HEALTH SYSTEMS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594485"/>
            <a:ext cx="10698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Enterprise SysAdmin Strategy</a:t>
            </a:r>
            <a:endParaRPr lang="en-US" sz="72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9290" y="361188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5321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Box 7"/>
          <p:cNvSpPr txBox="1"/>
          <p:nvPr/>
        </p:nvSpPr>
        <p:spPr>
          <a:xfrm>
            <a:off x="4712970" y="3611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PRESENTED BY :</a:t>
            </a:r>
            <a:endParaRPr lang="en-US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902710" y="4157345"/>
            <a:ext cx="51822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JERALD, AGUILAR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ADRIAN JAKE, PETILLA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CLARENCE, DRUJA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 CHRISTOPHER CORPORAL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ANGEL, EDEJER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ADRIAN, REDUCINDO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Three pressures, one plan</a:t>
            </a:r>
            <a:endParaRPr lang="en-US" sz="30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Apex Health Systems today: 45% of critical workloads on-prem, under compliance constraints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990" y="2011680"/>
            <a:ext cx="457200" cy="457200"/>
          </a:xfrm>
          <a:prstGeom prst="rect">
            <a:avLst/>
          </a:prstGeom>
          <a:solidFill>
            <a:srgbClr val="B4552B"/>
          </a:solidFill>
        </p:spPr>
      </p:sp>
      <p:sp>
        <p:nvSpPr>
          <p:cNvPr id="6" name="Text 4"/>
          <p:cNvSpPr/>
          <p:nvPr/>
        </p:nvSpPr>
        <p:spPr>
          <a:xfrm>
            <a:off x="68199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1265" y="201168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Infrastructure Strain</a:t>
            </a:r>
            <a:endParaRPr lang="en-US" sz="2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2150" y="2834640"/>
            <a:ext cx="310261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Rising on-prem power costs, AI-driven density increases, and outage risk.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0095" y="2011680"/>
            <a:ext cx="457200" cy="457200"/>
          </a:xfrm>
          <a:prstGeom prst="rect">
            <a:avLst/>
          </a:prstGeom>
          <a:solidFill>
            <a:srgbClr val="B4552B"/>
          </a:solidFill>
        </p:spPr>
      </p:sp>
      <p:sp>
        <p:nvSpPr>
          <p:cNvPr id="11" name="Text 9"/>
          <p:cNvSpPr/>
          <p:nvPr/>
        </p:nvSpPr>
        <p:spPr>
          <a:xfrm>
            <a:off x="4534535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01168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Security &amp; Staffing Crisis</a:t>
            </a:r>
            <a:endParaRPr lang="en-US" sz="2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40580" y="3063240"/>
            <a:ext cx="29260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Cybersecurity is the board's #1 fear; burnout and retention are eroding the IT team.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9440" y="2011680"/>
            <a:ext cx="457200" cy="457200"/>
          </a:xfrm>
          <a:prstGeom prst="rect">
            <a:avLst/>
          </a:prstGeom>
          <a:solidFill>
            <a:srgbClr val="B4552B"/>
          </a:solidFill>
        </p:spPr>
      </p:sp>
      <p:sp>
        <p:nvSpPr>
          <p:cNvPr id="16" name="Text 14"/>
          <p:cNvSpPr/>
          <p:nvPr/>
        </p:nvSpPr>
        <p:spPr>
          <a:xfrm>
            <a:off x="813816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57920" y="201168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Operational Disorganization</a:t>
            </a:r>
            <a:endParaRPr lang="en-US" sz="2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68995" y="3017520"/>
            <a:ext cx="29260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AD/GPO/NTFS access policy is outdated; backup and monitoring are practically absent.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605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Task 1 - Two specialized hires, justified by data</a:t>
            </a: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Splitting security and network ownership off the generalist team reduces both risk and burnout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8640" y="1416685"/>
          <a:ext cx="11480800" cy="3202940"/>
        </p:xfrm>
        <a:graphic>
          <a:graphicData uri="http://schemas.openxmlformats.org/drawingml/2006/table">
            <a:tbl>
              <a:tblPr/>
              <a:tblGrid>
                <a:gridCol w="1897380"/>
                <a:gridCol w="4175125"/>
                <a:gridCol w="1802765"/>
                <a:gridCol w="3605530"/>
              </a:tblGrid>
              <a:tr h="925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Benchmark basis</a:t>
                      </a:r>
                      <a:endParaRPr lang="en-US" sz="20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Proposed range</a:t>
                      </a:r>
                      <a:endParaRPr lang="en-US" sz="24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Why</a:t>
                      </a:r>
                      <a:endParaRPr lang="en-US" sz="24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25C"/>
                    </a:solidFill>
                  </a:tcPr>
                </a:tc>
              </a:tr>
              <a:tr h="113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Security Admin</a:t>
                      </a:r>
                      <a:endParaRPr lang="en-US" sz="18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Specialized/healthcare tech roles trend above the general median</a:t>
                      </a:r>
                      <a:endParaRPr lang="en-US" sz="18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$100K – $150K</a:t>
                      </a:r>
                      <a:endParaRPr lang="en-US" sz="18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Owns identity security, patching, and incident response  currently no one does full-time</a:t>
                      </a:r>
                      <a:endParaRPr lang="en-US" sz="18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113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Network Admin</a:t>
                      </a:r>
                      <a:endParaRPr lang="en-US" sz="1800" dirty="0">
                        <a:solidFill>
                          <a:srgbClr val="0F2A3C"/>
                        </a:solidFill>
                        <a:latin typeface="Arial" panose="020B0604020202020204" pitchFamily="34" charset="0"/>
                        <a:ea typeface="Calibri" panose="020F050202020403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BLS 2024 median (~$96,800); PDQ 2025 range $75K–$99K, scaled up</a:t>
                      </a:r>
                      <a:endParaRPr lang="en-US" sz="18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$90K – $120K</a:t>
                      </a:r>
                      <a:endParaRPr lang="en-US" sz="18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F2A3C"/>
                          </a:solidFill>
                          <a:latin typeface="Arial" panose="020B0604020202020204" pitchFamily="34" charset="0"/>
                          <a:ea typeface="Calibri" panose="020F0502020204030204" pitchFamily="34" charset="-122"/>
                          <a:cs typeface="Arial" panose="020B0604020202020204" pitchFamily="34" charset="0"/>
                        </a:rPr>
                        <a:t>Owns DNS/DHCP/VPN/firewall and hybrid connectivity  currently a side duty</a:t>
                      </a:r>
                      <a:endParaRPr lang="en-US" sz="1800" dirty="0"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9275" y="4709160"/>
            <a:ext cx="11504295" cy="192024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3900" y="4754245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3C"/>
                </a:solidFill>
                <a:latin typeface="Arial" panose="020B0604020202020204" pitchFamily="34" charset="0"/>
                <a:ea typeface="Georgia" panose="02040502050405020303" pitchFamily="34" charset="-122"/>
                <a:cs typeface="Arial" panose="020B0604020202020204" pitchFamily="34" charset="0"/>
              </a:rPr>
              <a:t>Burnout is structural, not just a hiring problem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5254625"/>
            <a:ext cx="104241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Documented runbooks (this repo) replace tribal knowledge  no single admin is a point of failure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Formal on-call rotation, compensated hours, and a hard rule: non-P1 tickets wait for business hours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The two hires directly cut per-person load rather than adding oversight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Task 1 - AI Acceptable Use Policy</a:t>
            </a: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Assistive only  no autonomous AI writes to production, ever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528185"/>
          </a:xfrm>
          <a:prstGeom prst="roundRect">
            <a:avLst>
              <a:gd name="adj" fmla="val 1702"/>
            </a:avLst>
          </a:prstGeom>
          <a:solidFill>
            <a:srgbClr val="EAF2ED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2E7D5B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PERMITTED (assistive)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651125"/>
            <a:ext cx="475488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Predictive maintenance flagging disk/CPU/memory trend anomalies for human review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Log analysis  summarizing/clustering large log volumes to speed up triage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Scripting assistance  draft/review only; a human tests in non-prod and approves before use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Documentation drafting, reviewed by a human before publishing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467985" cy="4577080"/>
          </a:xfrm>
          <a:prstGeom prst="roundRect">
            <a:avLst>
              <a:gd name="adj" fmla="val 1702"/>
            </a:avLst>
          </a:prstGeom>
          <a:solidFill>
            <a:srgbClr val="F5E9E3"/>
          </a:solidFill>
          <a:ln w="12700">
            <a:solidFill>
              <a:srgbClr val="E6C9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B4552B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PROHIBITED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92240" y="2651125"/>
            <a:ext cx="484632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AI tool executes changes directly against production (no autonomous write access to AD, firewalls, servers, backups)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PHI or regulated patient data in third-party AI tools  only an approved, contractually-covered enterprise offering, and only de-identified data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AI-suggested scripts/configs require a named human approver and a change-ticket reference before deployment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AI-generated content is never authoritative for compliance/audit without human sign-off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Task 2 - Hybrid Infrastructure Architecture</a:t>
            </a:r>
            <a:endParaRPr lang="en-US" sz="2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Compliance-bound workloads stay on-prem; everything else is cloud-first, linked by site-to-site VPN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/mnt/user-data/outputs/hybrid-architecture-diagram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548640" y="1417320"/>
            <a:ext cx="1106424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Task 2 - Active Directory OU Structure</a:t>
            </a:r>
            <a:endParaRPr lang="en-US" sz="2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Role-based OUs drive GPO scope and NTFS permissions assigned to groups, never to individual users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/mnt/user-data/outputs/ou-structure-diagram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822960" y="1371600"/>
            <a:ext cx="105156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Task 2 - Core Networking Services</a:t>
            </a: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2011680" cy="841248"/>
          </a:xfrm>
          <a:prstGeom prst="rect">
            <a:avLst/>
          </a:prstGeom>
          <a:solidFill>
            <a:srgbClr val="14425C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8686800" cy="84124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Redundant AD-integrated servers; conditional forwarders for cloud zones; DNSSEC where supported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33472"/>
            <a:ext cx="2011680" cy="841248"/>
          </a:xfrm>
          <a:prstGeom prst="rect">
            <a:avLst/>
          </a:prstGeom>
          <a:solidFill>
            <a:srgbClr val="14425C"/>
          </a:solidFill>
        </p:spPr>
      </p:sp>
      <p:sp>
        <p:nvSpPr>
          <p:cNvPr id="9" name="Text 7"/>
          <p:cNvSpPr/>
          <p:nvPr/>
        </p:nvSpPr>
        <p:spPr>
          <a:xfrm>
            <a:off x="548640" y="2633472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DHCP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0" y="2633472"/>
            <a:ext cx="8686800" cy="84124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Redundant servers, 80/20 scope split per site; dedicated VLAN scopes for clinical vs. corporate devices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75304"/>
            <a:ext cx="2011680" cy="841248"/>
          </a:xfrm>
          <a:prstGeom prst="rect">
            <a:avLst/>
          </a:prstGeom>
          <a:solidFill>
            <a:srgbClr val="14425C"/>
          </a:solidFill>
        </p:spPr>
      </p:sp>
      <p:sp>
        <p:nvSpPr>
          <p:cNvPr id="13" name="Text 11"/>
          <p:cNvSpPr/>
          <p:nvPr/>
        </p:nvSpPr>
        <p:spPr>
          <a:xfrm>
            <a:off x="548640" y="3575304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Web (IIS/WWW)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3575304"/>
            <a:ext cx="8686800" cy="84124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Internal IIS behind reverse proxy; public sites hosted in the cloud tier only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51713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17136"/>
            <a:ext cx="2011680" cy="841248"/>
          </a:xfrm>
          <a:prstGeom prst="rect">
            <a:avLst/>
          </a:prstGeom>
          <a:solidFill>
            <a:srgbClr val="14425C"/>
          </a:solidFill>
        </p:spPr>
      </p:sp>
      <p:sp>
        <p:nvSpPr>
          <p:cNvPr id="17" name="Text 15"/>
          <p:cNvSpPr/>
          <p:nvPr/>
        </p:nvSpPr>
        <p:spPr>
          <a:xfrm>
            <a:off x="548640" y="4517136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File Sharing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0" y="4517136"/>
            <a:ext cx="8686800" cy="84124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Samba/DFS for Windows-integrated shares; NFS reserved for Linux-to-Linux workloads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545896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458968"/>
            <a:ext cx="2011680" cy="841248"/>
          </a:xfrm>
          <a:prstGeom prst="rect">
            <a:avLst/>
          </a:prstGeom>
          <a:solidFill>
            <a:srgbClr val="14425C"/>
          </a:solidFill>
        </p:spPr>
      </p:sp>
      <p:sp>
        <p:nvSpPr>
          <p:cNvPr id="21" name="Text 19"/>
          <p:cNvSpPr/>
          <p:nvPr/>
        </p:nvSpPr>
        <p:spPr>
          <a:xfrm>
            <a:off x="548640" y="5458968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Proxy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0" y="5458968"/>
            <a:ext cx="8686800" cy="84124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proxy for outbound filtering/logging; reverse proxy for TLS termination and WAF-style filtering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Task 3 - Monitoring, Backup &amp; Disaster Recovery</a:t>
            </a: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425C"/>
                </a:solidFill>
                <a:latin typeface="Arial" panose="020B0604020202020204" pitchFamily="34" charset="0"/>
                <a:ea typeface="Georgia" panose="02040502050405020303" pitchFamily="34" charset="-122"/>
                <a:cs typeface="Arial" panose="020B0604020202020204" pitchFamily="34" charset="0"/>
              </a:rPr>
              <a:t>Multi-layer monitoring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11300"/>
            <a:ext cx="54864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Host layer - htop / Windows Perf Monitor for ad-hoc troubleshooting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Fleet layer - Prometheus + Grafana (cloud/Linux), Nagios (on-prem Windows)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Network layer - Wireshark for latency and suspicious-traffic deep dives, escalated to the Security Admin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09360" y="10515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425C"/>
                </a:solidFill>
                <a:latin typeface="Arial" panose="020B0604020202020204" pitchFamily="34" charset="0"/>
                <a:ea typeface="Georgia" panose="02040502050405020303" pitchFamily="34" charset="-122"/>
                <a:cs typeface="Arial" panose="020B0604020202020204" pitchFamily="34" charset="0"/>
              </a:rPr>
              <a:t>Backup policy (3-2-1)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09360" y="1511300"/>
            <a:ext cx="530352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Linux/app tier - nightly rsync incrementals, on-prem + cloud copies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Windows - Windows Server Backup + Veeam VM-level, app-consistent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Retention: 14 daily / 8 weekly / 12 monthly; quarterly restore test required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0F2A3C"/>
          </a:solidFill>
        </p:spPr>
      </p:sp>
      <p:sp>
        <p:nvSpPr>
          <p:cNvPr id="8" name="Text 6"/>
          <p:cNvSpPr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Georgia" panose="02040502050405020303" pitchFamily="34" charset="-122"/>
                <a:cs typeface="Arial" panose="020B0604020202020204" pitchFamily="34" charset="0"/>
              </a:rPr>
              <a:t>Disaster Recovery Target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10424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D7E4EA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Core services virtualized under Hyper-V/VMware. Tier-1 on-prem VMs replicate to cloud standby copies; an on-prem outage triggers a documented failover, not an incident. Annual full DR failover drill (not just tabletop).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96B8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RTO 4h</a:t>
            </a:r>
            <a:r>
              <a:rPr lang="en-US" dirty="0">
                <a:solidFill>
                  <a:srgbClr val="9FB4B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   Tier-1 recovery time objective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53492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96B8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RPO 1h</a:t>
            </a:r>
            <a:r>
              <a:rPr lang="en-US" dirty="0">
                <a:solidFill>
                  <a:srgbClr val="9FB4B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   Tier-1 recovery point objective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2A3C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Task 3 - Scripting Proof-of-Concept</a:t>
            </a: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686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Daily health-check, delivered for both platforms in the repo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31315"/>
            <a:ext cx="3520440" cy="1889125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030" y="1783080"/>
            <a:ext cx="2971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C"/>
                </a:solidFill>
                <a:latin typeface="Arial" panose="020B0604020202020204" pitchFamily="34" charset="0"/>
                <a:ea typeface="Georgia" panose="02040502050405020303" pitchFamily="34" charset="-122"/>
                <a:cs typeface="Arial" panose="020B0604020202020204" pitchFamily="34" charset="0"/>
              </a:rPr>
              <a:t>Disk usage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3920" y="2148840"/>
            <a:ext cx="293179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Flags any filesystem/drive over an 80% threshold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3400" y="1641475"/>
            <a:ext cx="3520440" cy="1878965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83080"/>
            <a:ext cx="2971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C"/>
                </a:solidFill>
                <a:latin typeface="Arial" panose="020B0604020202020204" pitchFamily="34" charset="0"/>
                <a:ea typeface="Georgia" panose="02040502050405020303" pitchFamily="34" charset="-122"/>
                <a:cs typeface="Arial" panose="020B0604020202020204" pitchFamily="34" charset="0"/>
              </a:rPr>
              <a:t>Failed logins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43120" y="2331720"/>
            <a:ext cx="269557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Ranks top offending IPs from auth logs (SSH) / Security event log (4625)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38160" y="1631315"/>
            <a:ext cx="3520440" cy="1889125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783080"/>
            <a:ext cx="2971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C"/>
                </a:solidFill>
                <a:latin typeface="Arial" panose="020B0604020202020204" pitchFamily="34" charset="0"/>
                <a:ea typeface="Georgia" panose="02040502050405020303" pitchFamily="34" charset="-122"/>
                <a:cs typeface="Arial" panose="020B0604020202020204" pitchFamily="34" charset="0"/>
              </a:rPr>
              <a:t>Service status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0" y="2171700"/>
            <a:ext cx="2971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A3C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Verifies a configurable list of critical services are running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F2A3C"/>
          </a:solidFill>
        </p:spPr>
      </p:sp>
      <p:sp>
        <p:nvSpPr>
          <p:cNvPr id="14" name="Text 12"/>
          <p:cNvSpPr/>
          <p:nvPr/>
        </p:nvSpPr>
        <p:spPr>
          <a:xfrm>
            <a:off x="868680" y="393192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96B8"/>
                </a:solidFill>
                <a:latin typeface="Arial" panose="020B0604020202020204" pitchFamily="34" charset="0"/>
                <a:ea typeface="Consolas" panose="020B0609020204030204" pitchFamily="34" charset="-122"/>
                <a:cs typeface="Arial" panose="020B0604020202020204" pitchFamily="34" charset="0"/>
              </a:rPr>
              <a:t>daily_healthcheck.sh  /  Daily-HealthCheck.ps1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10424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7E4EA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Bash version runs on the Ubuntu PoC VM via cron; PowerShell version runs on the Windows Server PoC VM via Task Scheduler.
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7E4EA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Both write a timestamped log and print a pass/warn summary  the same three checks, one script per platform.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 Health Systems — SysAdmin Strategy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" y="-189230"/>
            <a:ext cx="12188952" cy="6858000"/>
          </a:xfrm>
          <a:prstGeom prst="rect">
            <a:avLst/>
          </a:prstGeom>
          <a:solidFill>
            <a:srgbClr val="0F2A3C"/>
          </a:solidFill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Rollout Roadmap</a:t>
            </a:r>
            <a:endParaRPr lang="en-US" sz="30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109728" cy="822960"/>
          </a:xfrm>
          <a:prstGeom prst="rect">
            <a:avLst/>
          </a:prstGeom>
          <a:solidFill>
            <a:srgbClr val="3E96B8"/>
          </a:solidFill>
        </p:spPr>
      </p:sp>
      <p:sp>
        <p:nvSpPr>
          <p:cNvPr id="5" name="Text 3"/>
          <p:cNvSpPr/>
          <p:nvPr/>
        </p:nvSpPr>
        <p:spPr>
          <a:xfrm>
            <a:off x="1051560" y="1554480"/>
            <a:ext cx="2834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96B8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Phase 1 (0–2 mo)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77640" y="1554480"/>
            <a:ext cx="74980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7E4EA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Hire Security Admin + Network Admin; publish AI AUP; deploy new OU/GPO structure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109728" cy="822960"/>
          </a:xfrm>
          <a:prstGeom prst="rect">
            <a:avLst/>
          </a:prstGeom>
          <a:solidFill>
            <a:srgbClr val="3E96B8"/>
          </a:solidFill>
        </p:spPr>
      </p:sp>
      <p:sp>
        <p:nvSpPr>
          <p:cNvPr id="8" name="Text 6"/>
          <p:cNvSpPr/>
          <p:nvPr/>
        </p:nvSpPr>
        <p:spPr>
          <a:xfrm>
            <a:off x="1051560" y="2606040"/>
            <a:ext cx="2834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96B8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Phase 2 (2–4 mo)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77640" y="2606040"/>
            <a:ext cx="74980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7E4EA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Stand up Prometheus/Grafana + Nagios; deploy backup policy; run first restore test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109728" cy="822960"/>
          </a:xfrm>
          <a:prstGeom prst="rect">
            <a:avLst/>
          </a:prstGeom>
          <a:solidFill>
            <a:srgbClr val="3E96B8"/>
          </a:solidFill>
        </p:spPr>
      </p:sp>
      <p:sp>
        <p:nvSpPr>
          <p:cNvPr id="11" name="Text 9"/>
          <p:cNvSpPr/>
          <p:nvPr/>
        </p:nvSpPr>
        <p:spPr>
          <a:xfrm>
            <a:off x="1051560" y="3657600"/>
            <a:ext cx="2834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96B8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Phase 3 (4–6 mo)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77640" y="3657600"/>
            <a:ext cx="74980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7E4EA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Complete cloud migration of non-regulated workloads; site-to-site DR replication live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4782312"/>
            <a:ext cx="109728" cy="822960"/>
          </a:xfrm>
          <a:prstGeom prst="rect">
            <a:avLst/>
          </a:prstGeom>
          <a:solidFill>
            <a:srgbClr val="3E96B8"/>
          </a:solidFill>
        </p:spPr>
      </p:sp>
      <p:sp>
        <p:nvSpPr>
          <p:cNvPr id="14" name="Text 12"/>
          <p:cNvSpPr/>
          <p:nvPr/>
        </p:nvSpPr>
        <p:spPr>
          <a:xfrm>
            <a:off x="1051560" y="4709160"/>
            <a:ext cx="2834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96B8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Phase 4 (6–12 mo)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77640" y="4709160"/>
            <a:ext cx="74980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7E4EA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First annual full DR failover drill; review compensation bands against updated market data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4B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Full detail in README.md, ou-structure-diagram.svg, hybrid-architecture-diagram.svg, and the daily health-check scripts.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04*242"/>
  <p:tag name="TABLE_ENDDRAG_RECT" val="43*121*904*2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5163</Words>
  <Application>WPS Presentation</Application>
  <PresentationFormat>On-screen Show (16:9)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Arial Black</vt:lpstr>
      <vt:lpstr>Georgia</vt:lpstr>
      <vt:lpstr>Calibri</vt:lpstr>
      <vt:lpstr>Calibri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Jerald Aguilar</cp:lastModifiedBy>
  <cp:revision>3</cp:revision>
  <dcterms:created xsi:type="dcterms:W3CDTF">2026-08-10T13:47:00Z</dcterms:created>
  <dcterms:modified xsi:type="dcterms:W3CDTF">2026-08-12T05:19:57Z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F2CC8CB1D4BA47A18D0DAA48139793AF_12</vt:lpwstr>
  </property>
</Properties>
</file>